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2319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59E0B"/>
                </a:solidFill>
                <a:latin typeface="Calibri"/>
              </a:rPr>
              <a:t>Bilvantis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libri"/>
              </a:rPr>
              <a:t>Training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5486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1F5F9"/>
                </a:solidFill>
                <a:latin typeface="Calibri"/>
              </a:rPr>
              <a:t>AI-Powered Feedback Analytics  •  Automated Survey Distribution  •  Real-Time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Bilvantis TIP v1.0   |   Python 3.12 + FastAPI  •  Next.js 15  •  Groq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82880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AI-Powered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200400"/>
            <a:ext cx="18288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Real-Time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200400"/>
            <a:ext cx="1828800" cy="411480"/>
          </a:xfrm>
          <a:prstGeom prst="roundRect">
            <a:avLst/>
          </a:prstGeom>
          <a:solidFill>
            <a:srgbClr val="713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Cross-Platform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Training feedback is broken — manual, slow, and unactionable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5486400" cy="2286000"/>
          </a:xfrm>
          <a:prstGeom prst="roundRect">
            <a:avLst/>
          </a:prstGeom>
          <a:solidFill>
            <a:srgbClr val="1A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📋  Manual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Spreadsheets, paper forms, and emails waste hours of admin time every 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86400" cy="2286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⏱️  Delayed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Feedback is collected weeks after training — too late to improve anything.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86200"/>
            <a:ext cx="5486400" cy="22860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📉  Low Response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Generic survey links get ignored. Personalised, automated reminders are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86200"/>
            <a:ext cx="5486400" cy="2286000"/>
          </a:xfrm>
          <a:prstGeom prst="roundRect">
            <a:avLst/>
          </a:prstGeom>
          <a:solidFill>
            <a:srgbClr val="713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🤷  No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262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Raw ratings with no sentiment, themes, or recommendations — just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One platform that collects, analyses, and acts on training feedback —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5486400" cy="137160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🚀  Automated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Personalised survey emails sent automatically when a batch completes.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486400" cy="137160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🤖  7 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Sentiment, themes, scores, recommendations and executive summaries in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54680"/>
            <a:ext cx="5486400" cy="137160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📊  Real-Time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4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Trainer performance, batch analytics, and trend views — always up to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54680"/>
            <a:ext cx="5486400" cy="137160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💬  Conversational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4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Ask natural language questions about any trainer or batch — instant answers.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09160"/>
            <a:ext cx="5486400" cy="137160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🔒  Secure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JWT auth, role-based access, isolated per-organisation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709160"/>
            <a:ext cx="5486400" cy="137160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🌐  Zero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035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SQLite + Celery memory broker — no Postgres, no Redis, no Docker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Everything you need — nothing you don't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17320"/>
            <a:ext cx="5532120" cy="1600200"/>
          </a:xfrm>
          <a:prstGeom prst="round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🏢  Organisation Management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Multi-tenant: create orgs, programs, batches, and manage rosters.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32120" cy="1600200"/>
          </a:xfrm>
          <a:prstGeom prst="roundRect">
            <a:avLst/>
          </a:prstGeom>
          <a:solidFill>
            <a:srgbClr val="1A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📧  Automated Email Surveys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Tokenised feedback links with expiry — Gmail SMTP or SendGrid.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200400"/>
            <a:ext cx="5532120" cy="1600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🧠  AI Analytics Pipeline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7 chained Groq AI agents: validate → sentiment → themes → score → recommend → summarise.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00400"/>
            <a:ext cx="5532120" cy="1600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💬  Conversational RAG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Ask questions about any trainer or cohort in plain English.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983480"/>
            <a:ext cx="5532120" cy="1600200"/>
          </a:xfrm>
          <a:prstGeom prst="roundRect">
            <a:avLst/>
          </a:prstGeom>
          <a:solidFill>
            <a:srgbClr val="713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📈  Trainer Performance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Per-dimension scoring, historical snapshots, trend tracking.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983480"/>
            <a:ext cx="5532120" cy="1600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🌍  Cross-Platform Deploy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deploy.sh supports Ubuntu, RHEL, CentOS, Fedora, Alpine, openSUSE.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End-to-End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From training session → AI insight in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2926080"/>
            <a:ext cx="292608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" y="1417320"/>
            <a:ext cx="1828800" cy="3474720"/>
          </a:xfrm>
          <a:prstGeom prst="round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Admin
Setup</a:t>
            </a:r>
          </a:p>
          <a:p>
            <a:pPr algn="ctr"/>
            <a:r>
              <a:rPr sz="1200" b="0">
                <a:solidFill>
                  <a:srgbClr val="F1F5F9"/>
                </a:solidFill>
                <a:latin typeface="Calibri"/>
              </a:rPr>
              <a:t>Create org,
program,
batch, roster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4488" y="2926080"/>
            <a:ext cx="292608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12848" y="1417320"/>
            <a:ext cx="1828800" cy="3474720"/>
          </a:xfrm>
          <a:prstGeom prst="roundRect">
            <a:avLst/>
          </a:prstGeom>
          <a:solidFill>
            <a:srgbClr val="1A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Batch
Completes</a:t>
            </a:r>
          </a:p>
          <a:p>
            <a:pPr algn="ctr"/>
            <a:r>
              <a:rPr sz="1200" b="0">
                <a:solidFill>
                  <a:srgbClr val="F1F5F9"/>
                </a:solidFill>
                <a:latin typeface="Calibri"/>
              </a:rPr>
              <a:t>System detects
batch end date
automatically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88736" y="2926080"/>
            <a:ext cx="292608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97096" y="1417320"/>
            <a:ext cx="1828800" cy="3474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Surveys
Sent</a:t>
            </a:r>
          </a:p>
          <a:p>
            <a:pPr algn="ctr"/>
            <a:r>
              <a:rPr sz="1200" b="0">
                <a:solidFill>
                  <a:srgbClr val="F1F5F9"/>
                </a:solidFill>
                <a:latin typeface="Calibri"/>
              </a:rPr>
              <a:t>Personalised
email with
unique 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72984" y="2926080"/>
            <a:ext cx="292608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1344" y="1417320"/>
            <a:ext cx="1828800" cy="3474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Feedback
Received</a:t>
            </a:r>
          </a:p>
          <a:p>
            <a:pPr algn="ctr"/>
            <a:r>
              <a:rPr sz="1200" b="0">
                <a:solidFill>
                  <a:srgbClr val="F1F5F9"/>
                </a:solidFill>
                <a:latin typeface="Calibri"/>
              </a:rPr>
              <a:t>Participant
submits
5-star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57232" y="2926080"/>
            <a:ext cx="292608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65592" y="1417320"/>
            <a:ext cx="1828800" cy="3474720"/>
          </a:xfrm>
          <a:prstGeom prst="roundRect">
            <a:avLst/>
          </a:prstGeom>
          <a:solidFill>
            <a:srgbClr val="713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
Processes</a:t>
            </a:r>
          </a:p>
          <a:p>
            <a:pPr algn="ctr"/>
            <a:r>
              <a:rPr sz="1200" b="0">
                <a:solidFill>
                  <a:srgbClr val="F1F5F9"/>
                </a:solidFill>
                <a:latin typeface="Calibri"/>
              </a:rPr>
              <a:t>7 agents run
in pipeline
instantly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40" y="1417320"/>
            <a:ext cx="1828800" cy="3474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6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Insights
Ready</a:t>
            </a:r>
          </a:p>
          <a:p>
            <a:pPr algn="ctr"/>
            <a:r>
              <a:rPr sz="1200" b="0">
                <a:solidFill>
                  <a:srgbClr val="F1F5F9"/>
                </a:solidFill>
                <a:latin typeface="Calibri"/>
              </a:rPr>
              <a:t>Dashboard &amp;
AI chat
activated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  <a:latin typeface="Calibri"/>
              </a:rPr>
              <a:t>Celery Beat also runs automated reminders at 09:00 UTC and cleanup at 02:00 UTC daily.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AI Analytics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7 chained Groq agents — llama-3.3-70b-versatile — processing feedback in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1325880"/>
            <a:ext cx="1627632" cy="5029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Collector
Validator</a:t>
            </a:r>
          </a:p>
          <a:p>
            <a:pPr algn="ctr"/>
            <a:r>
              <a:rPr sz="1100" b="0">
                <a:solidFill>
                  <a:srgbClr val="E2E8F0"/>
                </a:solidFill>
                <a:latin typeface="Calibri"/>
              </a:rPr>
              <a:t>Validates &amp; normalises
raw feedback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2743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20" y="1325880"/>
            <a:ext cx="1627632" cy="5029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Sentiment
Analyzer</a:t>
            </a:r>
          </a:p>
          <a:p>
            <a:pPr algn="ctr"/>
            <a:r>
              <a:rPr sz="1100" b="0">
                <a:solidFill>
                  <a:srgbClr val="E2E8F0"/>
                </a:solidFill>
                <a:latin typeface="Calibri"/>
              </a:rPr>
              <a:t>Scores sentiment
−1.0 → +1.0 per 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743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1325880"/>
            <a:ext cx="1627632" cy="5029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Theme
Extractor</a:t>
            </a:r>
          </a:p>
          <a:p>
            <a:pPr algn="ctr"/>
            <a:r>
              <a:rPr sz="1100" b="0">
                <a:solidFill>
                  <a:srgbClr val="E2E8F0"/>
                </a:solidFill>
                <a:latin typeface="Calibri"/>
              </a:rPr>
              <a:t>Clusters recurring
themes across batch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2743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4376" y="1325880"/>
            <a:ext cx="1627632" cy="5029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Scoring
Agent</a:t>
            </a:r>
          </a:p>
          <a:p>
            <a:pPr algn="ctr"/>
            <a:r>
              <a:rPr sz="1100" b="0">
                <a:solidFill>
                  <a:srgbClr val="E2E8F0"/>
                </a:solidFill>
                <a:latin typeface="Calibri"/>
              </a:rPr>
              <a:t>Performance scores
by dimension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2743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4304" y="1325880"/>
            <a:ext cx="1627632" cy="5029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Recommendation
Agent</a:t>
            </a:r>
          </a:p>
          <a:p>
            <a:pPr algn="ctr"/>
            <a:r>
              <a:rPr sz="1100" b="0">
                <a:solidFill>
                  <a:srgbClr val="E2E8F0"/>
                </a:solidFill>
                <a:latin typeface="Calibri"/>
              </a:rPr>
              <a:t>Actionable improvement
suggestions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0224" y="2743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14232" y="1325880"/>
            <a:ext cx="1627632" cy="5029200"/>
          </a:xfrm>
          <a:prstGeom prst="roundRect">
            <a:avLst/>
          </a:prstGeom>
          <a:solidFill>
            <a:srgbClr val="713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06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Executive
Summary</a:t>
            </a:r>
          </a:p>
          <a:p>
            <a:pPr algn="ctr"/>
            <a:r>
              <a:rPr sz="1100" b="0">
                <a:solidFill>
                  <a:srgbClr val="E2E8F0"/>
                </a:solidFill>
                <a:latin typeface="Calibri"/>
              </a:rPr>
              <a:t>3–5 sentence
batch paragraph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0152" y="2743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1325880"/>
            <a:ext cx="1627632" cy="5029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07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Conversational
RAG</a:t>
            </a:r>
          </a:p>
          <a:p>
            <a:pPr algn="ctr"/>
            <a:r>
              <a:rPr sz="1100" b="0">
                <a:solidFill>
                  <a:srgbClr val="E2E8F0"/>
                </a:solidFill>
                <a:latin typeface="Calibri"/>
              </a:rPr>
              <a:t>Natural-language Q&amp;A
over all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POST /api/v1/analytics/generate  •  POST /api/v1/analytics/chat  (Bearer JWT required)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Modern, proven, zero-dependency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17320"/>
            <a:ext cx="3749039" cy="2377440"/>
          </a:xfrm>
          <a:prstGeom prst="round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35661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Next.js 15 + React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8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TypeScript + Tailwind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17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Next Auth + JWT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48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Port 3003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417320"/>
            <a:ext cx="3749039" cy="2377440"/>
          </a:xfrm>
          <a:prstGeom prst="roundRect">
            <a:avLst/>
          </a:prstGeom>
          <a:solidFill>
            <a:srgbClr val="1A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965960"/>
            <a:ext cx="35661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Python 3.12 + FastAPI 0.115.5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38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SQLAlchemy 2.0 async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717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uvicorn + asyncio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048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Port 8002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417320"/>
            <a:ext cx="3749039" cy="2377440"/>
          </a:xfrm>
          <a:prstGeom prst="roundRect">
            <a:avLst/>
          </a:prstGeom>
          <a:solidFill>
            <a:srgbClr val="713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AI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965960"/>
            <a:ext cx="35661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Groq API (free tier)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38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llama-3.3-70b-versatile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717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llama-3.1-8b-instant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048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7 AI agents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023360"/>
            <a:ext cx="3749039" cy="23774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160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572000"/>
            <a:ext cx="35661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SQLite + aiosqlite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993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9 ORM tables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323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Celery memory://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654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No Redis/Postgres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4023360"/>
            <a:ext cx="3749039" cy="23774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160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4572000"/>
            <a:ext cx="35661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Gmail SMTP App Password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4993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SendGrid alternative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5323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asyncio.to_thread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5654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Auto-retry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4023360"/>
            <a:ext cx="3749039" cy="23774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4160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4572000"/>
            <a:ext cx="35661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2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deploy.sh auto-detects 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993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systemd + OpenRC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323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6 Linux distros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654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▸ 170 KB ZIP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Fully self-contained — runs on any Linux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2651760" cy="5486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🌐  Browser / Mobile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2011680"/>
            <a:ext cx="457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2468880"/>
            <a:ext cx="3931920" cy="731520"/>
          </a:xfrm>
          <a:prstGeom prst="rect">
            <a:avLst/>
          </a:prstGeom>
          <a:solidFill>
            <a:srgbClr val="1A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Next.js 15 Frontend</a:t>
            </a:r>
          </a:p>
          <a:p>
            <a:pPr algn="ctr"/>
            <a:r>
              <a:rPr sz="1100" b="0">
                <a:solidFill>
                  <a:srgbClr val="F59E0B"/>
                </a:solidFill>
                <a:latin typeface="Calibri"/>
              </a:rPr>
              <a:t>:3003  •  React 19  •  TypeScript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3200400"/>
            <a:ext cx="45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3611880"/>
            <a:ext cx="3931920" cy="73152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FastAPI Backend</a:t>
            </a:r>
          </a:p>
          <a:p>
            <a:pPr algn="ctr"/>
            <a:r>
              <a:rPr sz="1100" b="0">
                <a:solidFill>
                  <a:srgbClr val="F59E0B"/>
                </a:solidFill>
                <a:latin typeface="Calibri"/>
              </a:rPr>
              <a:t>:8002  •  uvicorn  •  7 REST routers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4389120"/>
            <a:ext cx="2194560" cy="8229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4480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SQLite DB
feedback_platform.db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389120"/>
            <a:ext cx="219456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4480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Celery
memory:// broker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4389120"/>
            <a:ext cx="2194560" cy="822960"/>
          </a:xfrm>
          <a:prstGeom prst="roundRect">
            <a:avLst/>
          </a:prstGeom>
          <a:solidFill>
            <a:srgbClr val="713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4480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Groq API
llama-3.3-70b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389120"/>
            <a:ext cx="2194560" cy="8229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4480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Gmail SMTP
App Password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343400"/>
            <a:ext cx="36576" cy="4572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Admin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Full control of the training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17320"/>
            <a:ext cx="5577840" cy="1600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91440" cy="1600200"/>
          </a:xfrm>
          <a:prstGeom prst="round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B5B"/>
                </a:solidFill>
                <a:latin typeface="Calibri"/>
              </a:rPr>
              <a:t>🏢  Organisations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Create &amp; manage organisations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9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Organisation-scoped data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79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Admin user per organisation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577840" cy="1600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91440" cy="1600200"/>
          </a:xfrm>
          <a:prstGeom prst="round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B5B"/>
                </a:solidFill>
                <a:latin typeface="Calibri"/>
              </a:rPr>
              <a:t>📚  Programs &amp; Batches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Create training programs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99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Schedule batches with start/end 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79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Auto-trigger surveys on completion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200400"/>
            <a:ext cx="5577840" cy="1600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3200400"/>
            <a:ext cx="91440" cy="1600200"/>
          </a:xfrm>
          <a:prstGeom prst="roundRect">
            <a:avLst/>
          </a:prstGeom>
          <a:solidFill>
            <a:srgbClr val="1A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B5B"/>
                </a:solidFill>
                <a:latin typeface="Calibri"/>
              </a:rPr>
              <a:t>👥  Roster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Upload participant lists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82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Bulk add via CSV/form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62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Track individual submission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200400"/>
            <a:ext cx="5577840" cy="1600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3200400"/>
            <a:ext cx="91440" cy="1600200"/>
          </a:xfrm>
          <a:prstGeom prst="roundRect">
            <a:avLst/>
          </a:prstGeom>
          <a:solidFill>
            <a:srgbClr val="1A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291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B5B"/>
                </a:solidFill>
                <a:latin typeface="Calibri"/>
              </a:rPr>
              <a:t>👨‍🏫  Trainer Profiles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Register trainers with expertise tags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982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View performance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262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Compare across programs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4983480"/>
            <a:ext cx="5577840" cy="1600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4320" y="4983480"/>
            <a:ext cx="91440" cy="1600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074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B5B"/>
                </a:solidFill>
                <a:latin typeface="Calibri"/>
              </a:rPr>
              <a:t>📊  Analytics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486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Organisation-wide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765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Per-batch and per-trainer 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45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Executive summary reports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4983480"/>
            <a:ext cx="5577840" cy="1600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72200" y="4983480"/>
            <a:ext cx="91440" cy="1600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5074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B5B"/>
                </a:solidFill>
                <a:latin typeface="Calibri"/>
              </a:rPr>
              <a:t>⚙️  System Health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486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Backend API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765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Email provider 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6045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  ▸  Groq AI connectivity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Participant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Simple, mobile-friendly, one-click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17320"/>
            <a:ext cx="2743200" cy="5212080"/>
          </a:xfrm>
          <a:prstGeom prst="round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Receive 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8803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  <a:latin typeface="Calibri"/>
              </a:rPr>
              <a:t>Personalised email with trainer name and training title.
Unique token link — no login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417320"/>
            <a:ext cx="2743200" cy="5212080"/>
          </a:xfrm>
          <a:prstGeom prst="roundRect">
            <a:avLst/>
          </a:prstGeom>
          <a:solidFill>
            <a:srgbClr val="1A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554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Open Survey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7889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8803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  <a:latin typeface="Calibri"/>
              </a:rPr>
              <a:t>Mobile-responsive feedback form.
5-star ratings across multiple dimensions.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417320"/>
            <a:ext cx="2743200" cy="5212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Submit 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27889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8803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  <a:latin typeface="Calibri"/>
              </a:rPr>
              <a:t>Rate training delivery, content, materials, and engagement.
Optional open-ended comments.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417320"/>
            <a:ext cx="2743200" cy="52120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554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Confirmation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27889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8803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  <a:latin typeface="Calibri"/>
              </a:rPr>
              <a:t>Instant thank-you page.
Token invalidated — duplicate prevention.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  <a:latin typeface="Calibri"/>
              </a:rPr>
              <a:t>Token expiry: configurable (default 72 hours)  •  No account creation required  •  Works on all devices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Analytics &amp;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AI-generated intelligence from every feedback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17320"/>
            <a:ext cx="5577840" cy="2377440"/>
          </a:xfrm>
          <a:prstGeom prst="round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📊 Batch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11680"/>
            <a:ext cx="521208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Overall satisfaction score (0–10)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460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Response rate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Sentiment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318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Top themes wordcloud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577840" cy="2377440"/>
          </a:xfrm>
          <a:prstGeom prst="roundRect">
            <a:avLst/>
          </a:prstGeom>
          <a:solidFill>
            <a:srgbClr val="1A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👨‍🏫 Trainer Scorecard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11680"/>
            <a:ext cx="521208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Delivery, Content, Engagement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460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Historical trend 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Percentile vs organisation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318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Strengths &amp; improvement areas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023360"/>
            <a:ext cx="5577840" cy="2377440"/>
          </a:xfrm>
          <a:prstGeom prst="roundRect">
            <a:avLst/>
          </a:prstGeom>
          <a:solidFill>
            <a:srgbClr val="713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🔍 AI Executive Summary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617720"/>
            <a:ext cx="521208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Auto-generated paragraph per batch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520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Key wins and concerns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94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Recommended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378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Downloadable PDF-ready 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023360"/>
            <a:ext cx="5577840" cy="23774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160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💬 AI Chat (RAG)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617720"/>
            <a:ext cx="521208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709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"Who is our best trainer?"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0520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"Why did Batch-12 score low?"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394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"Summarise Q3 feedback"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7378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  <a:latin typeface="Calibri"/>
              </a:rPr>
              <a:t>▸  Natural language → instant answer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9 SQLAlchemy ORM tables — SQLite, zero configuration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17320"/>
            <a:ext cx="3749039" cy="1508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3749039" cy="411480"/>
          </a:xfrm>
          <a:prstGeom prst="round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745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id, name, domain, created_at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417320"/>
            <a:ext cx="3749039" cy="1508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1417320"/>
            <a:ext cx="3749039" cy="411480"/>
          </a:xfrm>
          <a:prstGeom prst="roundRect">
            <a:avLst/>
          </a:prstGeom>
          <a:solidFill>
            <a:srgbClr val="1A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630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8745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id, org_id, email, role, hashed_pw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749039" cy="1508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749039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630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trainers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id, org_id, name, expertise,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081528"/>
            <a:ext cx="3749039" cy="1508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3081528"/>
            <a:ext cx="3749039" cy="4114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1272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training_programs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53872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id, org_id, name, description, duration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081528"/>
            <a:ext cx="3749039" cy="1508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06240" y="3081528"/>
            <a:ext cx="3749039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1272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training_batches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53872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id, program_id, trainer_id, start/end_date,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081528"/>
            <a:ext cx="3749039" cy="1508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8160" y="3081528"/>
            <a:ext cx="3749039" cy="411480"/>
          </a:xfrm>
          <a:prstGeom prst="roundRect">
            <a:avLst/>
          </a:prstGeom>
          <a:solidFill>
            <a:srgbClr val="713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1272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batch_rosters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3872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id, batch_id, participant_email, token, submitted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4745736"/>
            <a:ext cx="3749039" cy="1508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4320" y="4745736"/>
            <a:ext cx="3749039" cy="4114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7914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feedback_submissions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02936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id, roster_id, ratings (JSON), comments, submitted_at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4745736"/>
            <a:ext cx="3749039" cy="1508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06240" y="4745736"/>
            <a:ext cx="3749039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7914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trainer_metrics_snapshots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202936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id, trainer_id, batch_id, scores, generated_at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4745736"/>
            <a:ext cx="3749039" cy="1508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38160" y="4745736"/>
            <a:ext cx="3749039" cy="41148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47914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google_forms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202936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id, batch_id, form_url, response_count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Cross-Platform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One command — any Linux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417320"/>
            <a:ext cx="9418320" cy="6400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9E0B"/>
                </a:solidFill>
                <a:latin typeface="Calibri"/>
              </a:rPr>
              <a:t>sudo bash deploy.sh --groq-key gsk_...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86000"/>
            <a:ext cx="2834640" cy="1280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" y="2286000"/>
            <a:ext cx="2834640" cy="365760"/>
          </a:xfrm>
          <a:prstGeom prst="roundRect">
            <a:avLst/>
          </a:prstGeom>
          <a:solidFill>
            <a:srgbClr val="1A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3225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Ubuntu / Debian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deadsnakes PPA → python3.12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8" y="2286000"/>
            <a:ext cx="2834640" cy="1280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18688" y="2286000"/>
            <a:ext cx="2834640" cy="3657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3225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RHEL / Rocky / Alma 9+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dnf install python3.12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286000"/>
            <a:ext cx="2834640" cy="1280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08776" y="2286000"/>
            <a:ext cx="2834640" cy="3657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3225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CentOS / RHEL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EPEL + dnf / source compile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98864" y="2286000"/>
            <a:ext cx="2834640" cy="1280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98864" y="2286000"/>
            <a:ext cx="2834640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3225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Fedora / Amazon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dnf install python3.12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" y="3794760"/>
            <a:ext cx="2834640" cy="1280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28600" y="3794760"/>
            <a:ext cx="2834640" cy="3657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83133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Amazon Linux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251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Source compile (~8 min)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18688" y="3794760"/>
            <a:ext cx="2834640" cy="1280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18688" y="3794760"/>
            <a:ext cx="2834640" cy="365760"/>
          </a:xfrm>
          <a:prstGeom prst="roundRect">
            <a:avLst/>
          </a:prstGeom>
          <a:solidFill>
            <a:srgbClr val="713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383133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openSUSE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4251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zypper install python312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3794760"/>
            <a:ext cx="2834640" cy="1280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08776" y="3794760"/>
            <a:ext cx="2834640" cy="365760"/>
          </a:xfrm>
          <a:prstGeom prst="round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216" y="383133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Alpine Linux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4251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apk add python3 + OpenRC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98864" y="3794760"/>
            <a:ext cx="2834640" cy="1280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98864" y="3794760"/>
            <a:ext cx="2834640" cy="36576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0304" y="383133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Arch / Manjaro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4251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pacman -S python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74151"/>
                </a:solidFill>
                <a:latin typeface="Calibri"/>
              </a:rPr>
              <a:t>Node.js 20 via NodeSource (deb/rpm) or nvm fallback  •  Services via systemd or OpenRC  •  Port checks: ss → netstat → nc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Security &amp;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Production-grade security with minimal surface 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17320"/>
            <a:ext cx="557784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73152" cy="1143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B5B"/>
                </a:solidFill>
                <a:latin typeface="Calibri"/>
              </a:rPr>
              <a:t>🔑  JWT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89280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Access tokens (24h) + survey tokens (72h configurable). HS256 signing.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57784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73152" cy="1143000"/>
          </a:xfrm>
          <a:prstGeom prst="rect">
            <a:avLst/>
          </a:prstGeom>
          <a:solidFill>
            <a:srgbClr val="1A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B5B"/>
                </a:solidFill>
                <a:latin typeface="Calibri"/>
              </a:rPr>
              <a:t>🏢  Org Data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89280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All queries scoped to organisation_id. Cross-org data access is impossible at API level.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715768"/>
            <a:ext cx="557784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715768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8072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B5B"/>
                </a:solidFill>
                <a:latin typeface="Calibri"/>
              </a:rPr>
              <a:t>🔒  Secret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19125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backend/.env is chmod 600. SECRET_KEY generated per deployment. Never in version control.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715768"/>
            <a:ext cx="557784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715768"/>
            <a:ext cx="73152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8072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B5B"/>
                </a:solidFill>
                <a:latin typeface="Calibri"/>
              </a:rPr>
              <a:t>🚫  No New Privileges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19125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systemd units: NoNewPrivileges=true, PrivateTmp=true. Services run as the deploying user.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014215"/>
            <a:ext cx="557784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014215"/>
            <a:ext cx="73152" cy="1143000"/>
          </a:xfrm>
          <a:prstGeom prst="rect">
            <a:avLst/>
          </a:prstGeom>
          <a:solidFill>
            <a:srgbClr val="713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4105655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B5B"/>
                </a:solidFill>
                <a:latin typeface="Calibri"/>
              </a:rPr>
              <a:t>🛡️  CORS Whitelist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4489703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Explicit FRONTEND_URL + localhost variants. All other origins blocked.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014215"/>
            <a:ext cx="557784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014215"/>
            <a:ext cx="73152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4105655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B5B"/>
                </a:solidFill>
                <a:latin typeface="Calibri"/>
              </a:rPr>
              <a:t>♻️  Token Invalidation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489703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Survey tokens marked used on submission. Duplicate submissions prevented at DB level.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312664"/>
            <a:ext cx="557784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312664"/>
            <a:ext cx="73152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54041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B5B"/>
                </a:solidFill>
                <a:latin typeface="Calibri"/>
              </a:rPr>
              <a:t>📋  Audit Trail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57881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All feedback timestamped. Trainer metrics snapshotted per batch for historical comparison.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312664"/>
            <a:ext cx="5577840" cy="1143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5312664"/>
            <a:ext cx="73152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54041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B5B"/>
                </a:solidFill>
                <a:latin typeface="Calibri"/>
              </a:rPr>
              <a:t>🔄  Service Recovery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57881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Systemd Restart=on-failure. StartLimitBurst=5 with 120s window. Logs to append: file.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  <a:latin typeface="Calibri"/>
              </a:rPr>
              <a:t>Why Bilvantis TIP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5486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155448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✓  Zero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No Postgres. No Redis. No Docker. SQLite + Celery memory:// = deploy anywhere.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486400" cy="155448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✓  AI in 7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full analytics pipeline (sentiment, themes, scores, recs, summary) fires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486400" cy="155448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✓  Real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Surveys go out the moment a batch is marked complete — no manual trigger.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26080"/>
            <a:ext cx="5486400" cy="155448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0632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✓  Any Linux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deploy.sh detects your OS and installs everything. Works on Ubuntu to Alpine to Amazon.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5486400" cy="155448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✓  Conversational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Ask your data questions. No BI tool, no SQL — just type and get answers.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754880"/>
            <a:ext cx="5486400" cy="155448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8920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✓  Production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492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JWT, org isolation, chmod 600 secrets, systemd hardening — enterprise-ready from day 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59E0B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Bilvantis Training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834640"/>
            <a:ext cx="4846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3017520"/>
            <a:ext cx="4389120" cy="77724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3063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🔗 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401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github.com/LUKALAPUSAIKUMARAO/feedback-sys-auto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17520"/>
            <a:ext cx="4389120" cy="77724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063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🌐 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401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http://&lt;VM_IP&gt;:3003/admin/login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023360"/>
            <a:ext cx="4389120" cy="77724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40690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📚  API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4074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http://&lt;VM_IP&gt;:8002/api/docs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023360"/>
            <a:ext cx="4389120" cy="777240"/>
          </a:xfrm>
          <a:prstGeom prst="roundRect">
            <a:avLst/>
          </a:prstGeom>
          <a:solidFill>
            <a:srgbClr val="1E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0690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👤  Admin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4074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admin@bilvantis.io  /  Admin@1234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Built with ❤️  by Bilvantis Dev Team  • 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